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Nunito"/>
      <p:regular r:id="rId18"/>
      <p:bold r:id="rId19"/>
      <p:italic r:id="rId20"/>
      <p:boldItalic r:id="rId21"/>
    </p:embeddedFont>
    <p:embeddedFont>
      <p:font typeface="Maven Pro"/>
      <p:regular r:id="rId22"/>
      <p:bold r:id="rId23"/>
    </p:embeddedFont>
    <p:embeddedFont>
      <p:font typeface="Vidaloka"/>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0E9D08-5E6B-4494-9869-2E4EE0AF9F50}">
  <a:tblStyle styleId="{CC0E9D08-5E6B-4494-9869-2E4EE0AF9F50}"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5.xml"/><Relationship Id="rId22" Type="http://schemas.openxmlformats.org/officeDocument/2006/relationships/font" Target="fonts/MavenPro-regular.fntdata"/><Relationship Id="rId10" Type="http://schemas.openxmlformats.org/officeDocument/2006/relationships/slide" Target="slides/slide4.xml"/><Relationship Id="rId21" Type="http://schemas.openxmlformats.org/officeDocument/2006/relationships/font" Target="fonts/Nunito-boldItalic.fntdata"/><Relationship Id="rId13" Type="http://schemas.openxmlformats.org/officeDocument/2006/relationships/slide" Target="slides/slide7.xml"/><Relationship Id="rId24" Type="http://schemas.openxmlformats.org/officeDocument/2006/relationships/font" Target="fonts/Vidaloka-regular.fntdata"/><Relationship Id="rId12" Type="http://schemas.openxmlformats.org/officeDocument/2006/relationships/slide" Target="slides/slide6.xml"/><Relationship Id="rId23" Type="http://schemas.openxmlformats.org/officeDocument/2006/relationships/font" Target="fonts/Maven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Nunito-bold.fntdata"/><Relationship Id="rId6" Type="http://schemas.openxmlformats.org/officeDocument/2006/relationships/notesMaster" Target="notesMasters/notesMaster1.xml"/><Relationship Id="rId18"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18bc960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18bc960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f265dcda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f265dcda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18bc9605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18bc9605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918bc9605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918bc9605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18bc960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18bc960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18bc9605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918bc9605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f2a3cabf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f2a3cabf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f265dcda9_2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af265dcda9_2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af265dcda9_2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af265dcda9_2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af265dcda9_2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af265dcda9_2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13"/>
          <p:cNvPicPr preferRelativeResize="0"/>
          <p:nvPr/>
        </p:nvPicPr>
        <p:blipFill rotWithShape="1">
          <a:blip r:embed="rId3">
            <a:alphaModFix/>
          </a:blip>
          <a:srcRect b="0" l="5963" r="5954" t="0"/>
          <a:stretch/>
        </p:blipFill>
        <p:spPr>
          <a:xfrm>
            <a:off x="0" y="913275"/>
            <a:ext cx="5193999" cy="3316950"/>
          </a:xfrm>
          <a:prstGeom prst="rect">
            <a:avLst/>
          </a:prstGeom>
          <a:noFill/>
          <a:ln>
            <a:noFill/>
          </a:ln>
        </p:spPr>
      </p:pic>
      <p:sp>
        <p:nvSpPr>
          <p:cNvPr id="278" name="Google Shape;278;p13"/>
          <p:cNvSpPr txBox="1"/>
          <p:nvPr>
            <p:ph type="ctrTitle"/>
          </p:nvPr>
        </p:nvSpPr>
        <p:spPr>
          <a:xfrm>
            <a:off x="3346800" y="293250"/>
            <a:ext cx="5692500" cy="455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7000">
                <a:latin typeface="Vidaloka"/>
                <a:ea typeface="Vidaloka"/>
                <a:cs typeface="Vidaloka"/>
                <a:sym typeface="Vidaloka"/>
              </a:rPr>
              <a:t>Forecasting McDonald's Quarterly Revenue</a:t>
            </a:r>
            <a:endParaRPr sz="7000">
              <a:latin typeface="Vidaloka"/>
              <a:ea typeface="Vidaloka"/>
              <a:cs typeface="Vidaloka"/>
              <a:sym typeface="Vidalok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124450"/>
            <a:ext cx="7030500" cy="66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Cleaned McDonald's Financial Datasets</a:t>
            </a:r>
            <a:endParaRPr>
              <a:solidFill>
                <a:schemeClr val="lt1"/>
              </a:solidFill>
            </a:endParaRPr>
          </a:p>
        </p:txBody>
      </p:sp>
      <p:pic>
        <p:nvPicPr>
          <p:cNvPr descr="77c9b9b5-b2d5-4abe-a1e1-a17164e86bbe.png" id="284" name="Google Shape;284;p14"/>
          <p:cNvPicPr preferRelativeResize="0"/>
          <p:nvPr/>
        </p:nvPicPr>
        <p:blipFill rotWithShape="1">
          <a:blip r:embed="rId3">
            <a:alphaModFix/>
          </a:blip>
          <a:srcRect b="0" l="0" r="0" t="0"/>
          <a:stretch/>
        </p:blipFill>
        <p:spPr>
          <a:xfrm>
            <a:off x="115100" y="689250"/>
            <a:ext cx="5216300" cy="3131000"/>
          </a:xfrm>
          <a:prstGeom prst="rect">
            <a:avLst/>
          </a:prstGeom>
          <a:noFill/>
          <a:ln>
            <a:noFill/>
          </a:ln>
        </p:spPr>
      </p:pic>
      <p:pic>
        <p:nvPicPr>
          <p:cNvPr id="285" name="Google Shape;285;p14" title="Screenshot 2025-12-09 at 9.52.23 PM.png"/>
          <p:cNvPicPr preferRelativeResize="0"/>
          <p:nvPr/>
        </p:nvPicPr>
        <p:blipFill>
          <a:blip r:embed="rId4">
            <a:alphaModFix/>
          </a:blip>
          <a:stretch>
            <a:fillRect/>
          </a:stretch>
        </p:blipFill>
        <p:spPr>
          <a:xfrm>
            <a:off x="3334925" y="1779200"/>
            <a:ext cx="2184350" cy="3235376"/>
          </a:xfrm>
          <a:prstGeom prst="rect">
            <a:avLst/>
          </a:prstGeom>
          <a:noFill/>
          <a:ln>
            <a:noFill/>
          </a:ln>
        </p:spPr>
      </p:pic>
      <p:sp>
        <p:nvSpPr>
          <p:cNvPr id="286" name="Google Shape;286;p14"/>
          <p:cNvSpPr txBox="1"/>
          <p:nvPr/>
        </p:nvSpPr>
        <p:spPr>
          <a:xfrm>
            <a:off x="5597450" y="786850"/>
            <a:ext cx="3476100" cy="42279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T</a:t>
            </a:r>
            <a:r>
              <a:rPr lang="en" sz="1200">
                <a:solidFill>
                  <a:schemeClr val="lt1"/>
                </a:solidFill>
                <a:latin typeface="Times New Roman"/>
                <a:ea typeface="Times New Roman"/>
                <a:cs typeface="Times New Roman"/>
                <a:sym typeface="Times New Roman"/>
              </a:rPr>
              <a:t>ransformed s</a:t>
            </a:r>
            <a:r>
              <a:rPr lang="en" sz="1200">
                <a:solidFill>
                  <a:schemeClr val="lt1"/>
                </a:solidFill>
                <a:latin typeface="Times New Roman"/>
                <a:ea typeface="Times New Roman"/>
                <a:cs typeface="Times New Roman"/>
                <a:sym typeface="Times New Roman"/>
              </a:rPr>
              <a:t>tring values into REAL data types</a:t>
            </a:r>
            <a:endParaRPr sz="1200">
              <a:solidFill>
                <a:schemeClr val="lt1"/>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Got rid of non-numeric values</a:t>
            </a:r>
            <a:endParaRPr sz="1200">
              <a:solidFill>
                <a:schemeClr val="lt1"/>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Casted everything to make it numeric</a:t>
            </a:r>
            <a:endParaRPr sz="1200">
              <a:solidFill>
                <a:schemeClr val="lt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Filtered Year to not include 2002 (data missing for that year)</a:t>
            </a:r>
            <a:endParaRPr sz="1200">
              <a:solidFill>
                <a:schemeClr val="lt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Verified everything was good via SELECT statement</a:t>
            </a:r>
            <a:endParaRPr sz="1200">
              <a:solidFill>
                <a:schemeClr val="lt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Cleaned &amp; standardized Big Mac dataset</a:t>
            </a:r>
            <a:endParaRPr sz="1200">
              <a:solidFill>
                <a:schemeClr val="lt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Filtered dataset to only include US prices and extracted the year from full date string.</a:t>
            </a:r>
            <a:endParaRPr sz="1200">
              <a:solidFill>
                <a:schemeClr val="lt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Extracted</a:t>
            </a:r>
            <a:r>
              <a:rPr lang="en" sz="1200">
                <a:solidFill>
                  <a:schemeClr val="lt1"/>
                </a:solidFill>
                <a:latin typeface="Times New Roman"/>
                <a:ea typeface="Times New Roman"/>
                <a:cs typeface="Times New Roman"/>
                <a:sym typeface="Times New Roman"/>
              </a:rPr>
              <a:t> year from date string</a:t>
            </a:r>
            <a:endParaRPr sz="1200">
              <a:solidFill>
                <a:schemeClr val="lt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We aggregated using GROUP BY and AVG to produce one representative value per year </a:t>
            </a:r>
            <a:endParaRPr sz="1200">
              <a:solidFill>
                <a:schemeClr val="lt1"/>
              </a:solidFill>
              <a:latin typeface="Times New Roman"/>
              <a:ea typeface="Times New Roman"/>
              <a:cs typeface="Times New Roman"/>
              <a:sym typeface="Times New Roman"/>
            </a:endParaRPr>
          </a:p>
          <a:p>
            <a:pPr indent="-304800" lvl="1" marL="914400" rtl="0" algn="l">
              <a:lnSpc>
                <a:spcPct val="115000"/>
              </a:lnSpc>
              <a:spcBef>
                <a:spcPts val="0"/>
              </a:spcBef>
              <a:spcAft>
                <a:spcPts val="0"/>
              </a:spcAft>
              <a:buClr>
                <a:schemeClr val="lt1"/>
              </a:buClr>
              <a:buSzPts val="1200"/>
              <a:buFont typeface="Times New Roman"/>
              <a:buChar char="○"/>
            </a:pPr>
            <a:r>
              <a:rPr lang="en" sz="1200">
                <a:solidFill>
                  <a:schemeClr val="lt1"/>
                </a:solidFill>
                <a:latin typeface="Times New Roman"/>
                <a:ea typeface="Times New Roman"/>
                <a:cs typeface="Times New Roman"/>
                <a:sym typeface="Times New Roman"/>
              </a:rPr>
              <a:t>Ensured the data was consistent prior to merging</a:t>
            </a:r>
            <a:endParaRPr sz="1300">
              <a:solidFill>
                <a:schemeClr val="lt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1327300" y="0"/>
            <a:ext cx="7030500" cy="646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Merged Datasets</a:t>
            </a:r>
            <a:endParaRPr>
              <a:solidFill>
                <a:schemeClr val="lt1"/>
              </a:solidFill>
            </a:endParaRPr>
          </a:p>
        </p:txBody>
      </p:sp>
      <p:pic>
        <p:nvPicPr>
          <p:cNvPr id="292" name="Google Shape;292;p15" title="Screenshot 2025-12-09 at 10.10.35 PM.png"/>
          <p:cNvPicPr preferRelativeResize="0"/>
          <p:nvPr/>
        </p:nvPicPr>
        <p:blipFill>
          <a:blip r:embed="rId3">
            <a:alphaModFix/>
          </a:blip>
          <a:stretch>
            <a:fillRect/>
          </a:stretch>
        </p:blipFill>
        <p:spPr>
          <a:xfrm>
            <a:off x="152400" y="586925"/>
            <a:ext cx="8839204" cy="3284489"/>
          </a:xfrm>
          <a:prstGeom prst="rect">
            <a:avLst/>
          </a:prstGeom>
          <a:noFill/>
          <a:ln>
            <a:noFill/>
          </a:ln>
        </p:spPr>
      </p:pic>
      <p:sp>
        <p:nvSpPr>
          <p:cNvPr id="293" name="Google Shape;293;p15"/>
          <p:cNvSpPr txBox="1"/>
          <p:nvPr/>
        </p:nvSpPr>
        <p:spPr>
          <a:xfrm>
            <a:off x="111450" y="3922200"/>
            <a:ext cx="8921100" cy="97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Performed left joins on </a:t>
            </a:r>
            <a:r>
              <a:rPr lang="en" sz="1200">
                <a:solidFill>
                  <a:schemeClr val="lt1"/>
                </a:solidFill>
                <a:latin typeface="Times New Roman"/>
                <a:ea typeface="Times New Roman"/>
                <a:cs typeface="Times New Roman"/>
                <a:sym typeface="Times New Roman"/>
              </a:rPr>
              <a:t>the </a:t>
            </a:r>
            <a:r>
              <a:rPr lang="en" sz="1200">
                <a:solidFill>
                  <a:schemeClr val="lt1"/>
                </a:solidFill>
                <a:latin typeface="Times New Roman"/>
                <a:ea typeface="Times New Roman"/>
                <a:cs typeface="Times New Roman"/>
                <a:sym typeface="Times New Roman"/>
              </a:rPr>
              <a:t>Year attribute to consolidate the datasets. </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Replaced non numeric values; converted strings to real numbers.</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Standardized units to billions. </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200">
                <a:solidFill>
                  <a:schemeClr val="lt1"/>
                </a:solidFill>
                <a:latin typeface="Times New Roman"/>
                <a:ea typeface="Times New Roman"/>
                <a:cs typeface="Times New Roman"/>
                <a:sym typeface="Times New Roman"/>
              </a:rPr>
              <a:t>The final cleaned table was exported to a DataFrame and saved as a CSV for use in modeling. This completed the database pipeline that supports both data quality and model readiness.</a:t>
            </a:r>
            <a:endParaRPr sz="1200">
              <a:solidFill>
                <a:schemeClr val="lt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6"/>
          <p:cNvSpPr txBox="1"/>
          <p:nvPr>
            <p:ph type="title"/>
          </p:nvPr>
        </p:nvSpPr>
        <p:spPr>
          <a:xfrm>
            <a:off x="1283500" y="141869"/>
            <a:ext cx="7030500" cy="63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Preparing Data</a:t>
            </a:r>
            <a:endParaRPr>
              <a:solidFill>
                <a:schemeClr val="lt1"/>
              </a:solidFill>
            </a:endParaRPr>
          </a:p>
        </p:txBody>
      </p:sp>
      <p:sp>
        <p:nvSpPr>
          <p:cNvPr id="299" name="Google Shape;299;p16"/>
          <p:cNvSpPr txBox="1"/>
          <p:nvPr>
            <p:ph idx="1" type="body"/>
          </p:nvPr>
        </p:nvSpPr>
        <p:spPr>
          <a:xfrm>
            <a:off x="4986475" y="802650"/>
            <a:ext cx="3733800" cy="3030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lt1"/>
              </a:buClr>
              <a:buSzPts val="1400"/>
              <a:buChar char="●"/>
            </a:pPr>
            <a:r>
              <a:rPr lang="en" sz="1400">
                <a:solidFill>
                  <a:schemeClr val="lt1"/>
                </a:solidFill>
              </a:rPr>
              <a:t>T</a:t>
            </a:r>
            <a:r>
              <a:rPr lang="en" sz="1400">
                <a:solidFill>
                  <a:schemeClr val="lt1"/>
                </a:solidFill>
              </a:rPr>
              <a:t>ransformed DataFrame from a wide format to a long format and prepare it for time-series analysis</a:t>
            </a:r>
            <a:endParaRPr sz="1400">
              <a:solidFill>
                <a:schemeClr val="lt1"/>
              </a:solidFill>
            </a:endParaRPr>
          </a:p>
          <a:p>
            <a:pPr indent="-317500" lvl="0" marL="457200" rtl="0" algn="l">
              <a:spcBef>
                <a:spcPts val="0"/>
              </a:spcBef>
              <a:spcAft>
                <a:spcPts val="0"/>
              </a:spcAft>
              <a:buClr>
                <a:schemeClr val="lt1"/>
              </a:buClr>
              <a:buSzPts val="1400"/>
              <a:buChar char="●"/>
            </a:pPr>
            <a:r>
              <a:rPr lang="en" sz="1400">
                <a:solidFill>
                  <a:schemeClr val="lt1"/>
                </a:solidFill>
              </a:rPr>
              <a:t>Perform Feature Engineering on time-series df </a:t>
            </a:r>
            <a:endParaRPr sz="1400">
              <a:solidFill>
                <a:schemeClr val="lt1"/>
              </a:solidFill>
            </a:endParaRPr>
          </a:p>
          <a:p>
            <a:pPr indent="-304800" lvl="1" marL="914400" rtl="0" algn="l">
              <a:spcBef>
                <a:spcPts val="0"/>
              </a:spcBef>
              <a:spcAft>
                <a:spcPts val="0"/>
              </a:spcAft>
              <a:buClr>
                <a:schemeClr val="lt1"/>
              </a:buClr>
              <a:buSzPts val="1200"/>
              <a:buChar char="○"/>
            </a:pPr>
            <a:r>
              <a:rPr lang="en" sz="1200">
                <a:solidFill>
                  <a:schemeClr val="lt1"/>
                </a:solidFill>
              </a:rPr>
              <a:t>Create new predictive variables that capture temporal relationships + rolling statistics</a:t>
            </a:r>
            <a:endParaRPr sz="1200">
              <a:solidFill>
                <a:schemeClr val="lt1"/>
              </a:solidFill>
            </a:endParaRPr>
          </a:p>
          <a:p>
            <a:pPr indent="-304800" lvl="1" marL="914400" rtl="0" algn="l">
              <a:spcBef>
                <a:spcPts val="0"/>
              </a:spcBef>
              <a:spcAft>
                <a:spcPts val="0"/>
              </a:spcAft>
              <a:buClr>
                <a:schemeClr val="lt1"/>
              </a:buClr>
              <a:buSzPts val="1200"/>
              <a:buChar char="○"/>
            </a:pPr>
            <a:r>
              <a:rPr lang="en" sz="1200">
                <a:solidFill>
                  <a:schemeClr val="lt1"/>
                </a:solidFill>
              </a:rPr>
              <a:t>Preparing data for predictive model</a:t>
            </a:r>
            <a:endParaRPr sz="1200">
              <a:solidFill>
                <a:schemeClr val="lt1"/>
              </a:solidFill>
            </a:endParaRPr>
          </a:p>
        </p:txBody>
      </p:sp>
      <p:pic>
        <p:nvPicPr>
          <p:cNvPr id="300" name="Google Shape;300;p16" title="Screenshot 2025-12-09 at 11.03.17 PM.png"/>
          <p:cNvPicPr preferRelativeResize="0"/>
          <p:nvPr/>
        </p:nvPicPr>
        <p:blipFill>
          <a:blip r:embed="rId3">
            <a:alphaModFix/>
          </a:blip>
          <a:stretch>
            <a:fillRect/>
          </a:stretch>
        </p:blipFill>
        <p:spPr>
          <a:xfrm>
            <a:off x="202975" y="1196075"/>
            <a:ext cx="4494675" cy="1683027"/>
          </a:xfrm>
          <a:prstGeom prst="rect">
            <a:avLst/>
          </a:prstGeom>
          <a:noFill/>
          <a:ln>
            <a:noFill/>
          </a:ln>
        </p:spPr>
      </p:pic>
      <p:pic>
        <p:nvPicPr>
          <p:cNvPr id="301" name="Google Shape;301;p16" title="Screenshot 2025-12-09 at 11.10.19 PM.png"/>
          <p:cNvPicPr preferRelativeResize="0"/>
          <p:nvPr/>
        </p:nvPicPr>
        <p:blipFill>
          <a:blip r:embed="rId4">
            <a:alphaModFix/>
          </a:blip>
          <a:stretch>
            <a:fillRect/>
          </a:stretch>
        </p:blipFill>
        <p:spPr>
          <a:xfrm>
            <a:off x="202975" y="3062900"/>
            <a:ext cx="6860874" cy="1909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7"/>
          <p:cNvSpPr txBox="1"/>
          <p:nvPr>
            <p:ph type="title"/>
          </p:nvPr>
        </p:nvSpPr>
        <p:spPr>
          <a:xfrm>
            <a:off x="1249300" y="162475"/>
            <a:ext cx="7030500" cy="668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Exploratory Data Analysis</a:t>
            </a:r>
            <a:endParaRPr>
              <a:solidFill>
                <a:schemeClr val="lt1"/>
              </a:solidFill>
            </a:endParaRPr>
          </a:p>
        </p:txBody>
      </p:sp>
      <p:pic>
        <p:nvPicPr>
          <p:cNvPr id="307" name="Google Shape;307;p17" title="Screenshot 2025-12-09 at 11.13.28 PM.png"/>
          <p:cNvPicPr preferRelativeResize="0"/>
          <p:nvPr/>
        </p:nvPicPr>
        <p:blipFill>
          <a:blip r:embed="rId3">
            <a:alphaModFix/>
          </a:blip>
          <a:stretch>
            <a:fillRect/>
          </a:stretch>
        </p:blipFill>
        <p:spPr>
          <a:xfrm>
            <a:off x="703350" y="946250"/>
            <a:ext cx="3567876" cy="1727275"/>
          </a:xfrm>
          <a:prstGeom prst="rect">
            <a:avLst/>
          </a:prstGeom>
          <a:noFill/>
          <a:ln>
            <a:noFill/>
          </a:ln>
        </p:spPr>
      </p:pic>
      <p:pic>
        <p:nvPicPr>
          <p:cNvPr id="308" name="Google Shape;308;p17" title="Screenshot 2025-12-09 at 11.14.03 PM.png"/>
          <p:cNvPicPr preferRelativeResize="0"/>
          <p:nvPr/>
        </p:nvPicPr>
        <p:blipFill>
          <a:blip r:embed="rId4">
            <a:alphaModFix/>
          </a:blip>
          <a:stretch>
            <a:fillRect/>
          </a:stretch>
        </p:blipFill>
        <p:spPr>
          <a:xfrm>
            <a:off x="84276" y="2788599"/>
            <a:ext cx="2395249" cy="2170226"/>
          </a:xfrm>
          <a:prstGeom prst="rect">
            <a:avLst/>
          </a:prstGeom>
          <a:noFill/>
          <a:ln>
            <a:noFill/>
          </a:ln>
        </p:spPr>
      </p:pic>
      <p:pic>
        <p:nvPicPr>
          <p:cNvPr id="309" name="Google Shape;309;p17" title="Screenshot 2025-12-09 at 11.14.21 PM.png"/>
          <p:cNvPicPr preferRelativeResize="0"/>
          <p:nvPr/>
        </p:nvPicPr>
        <p:blipFill>
          <a:blip r:embed="rId5">
            <a:alphaModFix/>
          </a:blip>
          <a:stretch>
            <a:fillRect/>
          </a:stretch>
        </p:blipFill>
        <p:spPr>
          <a:xfrm>
            <a:off x="2564476" y="2861449"/>
            <a:ext cx="2395249" cy="1884351"/>
          </a:xfrm>
          <a:prstGeom prst="rect">
            <a:avLst/>
          </a:prstGeom>
          <a:noFill/>
          <a:ln>
            <a:noFill/>
          </a:ln>
        </p:spPr>
      </p:pic>
      <p:sp>
        <p:nvSpPr>
          <p:cNvPr id="310" name="Google Shape;310;p17"/>
          <p:cNvSpPr txBox="1"/>
          <p:nvPr>
            <p:ph idx="1" type="body"/>
          </p:nvPr>
        </p:nvSpPr>
        <p:spPr>
          <a:xfrm>
            <a:off x="5044675" y="946250"/>
            <a:ext cx="3990300" cy="40746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Clr>
                <a:schemeClr val="lt1"/>
              </a:buClr>
              <a:buSzPct val="100000"/>
              <a:buChar char="●"/>
            </a:pPr>
            <a:r>
              <a:rPr lang="en">
                <a:solidFill>
                  <a:schemeClr val="lt1"/>
                </a:solidFill>
              </a:rPr>
              <a:t>T</a:t>
            </a:r>
            <a:r>
              <a:rPr lang="en">
                <a:solidFill>
                  <a:schemeClr val="lt1"/>
                </a:solidFill>
              </a:rPr>
              <a:t>ime series shows upward trend from 2004 to 2014 followed by decline &amp; stabilization until 2018</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S</a:t>
            </a:r>
            <a:r>
              <a:rPr lang="en">
                <a:solidFill>
                  <a:schemeClr val="lt1"/>
                </a:solidFill>
              </a:rPr>
              <a:t>trong seasonal pattern</a:t>
            </a:r>
            <a:endParaRPr>
              <a:solidFill>
                <a:schemeClr val="lt1"/>
              </a:solidFill>
            </a:endParaRPr>
          </a:p>
          <a:p>
            <a:pPr indent="-287972" lvl="1" marL="914400" rtl="0" algn="l">
              <a:spcBef>
                <a:spcPts val="0"/>
              </a:spcBef>
              <a:spcAft>
                <a:spcPts val="0"/>
              </a:spcAft>
              <a:buClr>
                <a:schemeClr val="lt1"/>
              </a:buClr>
              <a:buSzPct val="100000"/>
              <a:buChar char="○"/>
            </a:pPr>
            <a:r>
              <a:rPr lang="en">
                <a:solidFill>
                  <a:schemeClr val="lt1"/>
                </a:solidFill>
              </a:rPr>
              <a:t>recurring peaks and troughs within each year</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S</a:t>
            </a:r>
            <a:r>
              <a:rPr lang="en">
                <a:solidFill>
                  <a:schemeClr val="lt1"/>
                </a:solidFill>
              </a:rPr>
              <a:t>harpest single drop in 2020 (likely Q2)</a:t>
            </a:r>
            <a:endParaRPr>
              <a:solidFill>
                <a:schemeClr val="lt1"/>
              </a:solidFill>
            </a:endParaRPr>
          </a:p>
          <a:p>
            <a:pPr indent="-287972" lvl="1" marL="914400" rtl="0" algn="l">
              <a:spcBef>
                <a:spcPts val="0"/>
              </a:spcBef>
              <a:spcAft>
                <a:spcPts val="0"/>
              </a:spcAft>
              <a:buClr>
                <a:schemeClr val="lt1"/>
              </a:buClr>
              <a:buSzPct val="100000"/>
              <a:buChar char="○"/>
            </a:pPr>
            <a:r>
              <a:rPr lang="en">
                <a:solidFill>
                  <a:schemeClr val="lt1"/>
                </a:solidFill>
              </a:rPr>
              <a:t>Corresponds to the initial impact of pandemic</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Following 2020 low point, revenue showed strong, rapid recovery &amp; rebound in the subsequent years</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Lagged revenue features (Revenue_Lag_1Q at 0.83 and Revenue_Lag_4Q at 0.80) are strongest predictors of the Quarterly_Revenue_Target</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Traditional financial metrics like EPS ($) &amp; Operating Margin (%) show weak positive correlations (0.17) with target revenue</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The BigMacPrice_Vol_4Q feature has weak positive correlation of 0.25, indicating minor predictive value.</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Strong correlation of 0.94 exists between Operating Margin (%) and EPS ($), suggesting high multicollinearity </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Distribution of 4-Quarter Big Mac Price Volatility is heavily right-skewed,</a:t>
            </a:r>
            <a:endParaRPr>
              <a:solidFill>
                <a:schemeClr val="lt1"/>
              </a:solidFill>
            </a:endParaRPr>
          </a:p>
          <a:p>
            <a:pPr indent="-298767" lvl="0" marL="457200" rtl="0" algn="l">
              <a:spcBef>
                <a:spcPts val="0"/>
              </a:spcBef>
              <a:spcAft>
                <a:spcPts val="0"/>
              </a:spcAft>
              <a:buClr>
                <a:schemeClr val="lt1"/>
              </a:buClr>
              <a:buSzPct val="100000"/>
              <a:buChar char="●"/>
            </a:pPr>
            <a:r>
              <a:rPr lang="en">
                <a:solidFill>
                  <a:schemeClr val="lt1"/>
                </a:solidFill>
              </a:rPr>
              <a:t>High frequency of values close to 0.00 indicates Big Mac price is generally stable over one-year period</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idx="1" type="body"/>
          </p:nvPr>
        </p:nvSpPr>
        <p:spPr>
          <a:xfrm>
            <a:off x="3309025" y="659675"/>
            <a:ext cx="5666100" cy="4331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Arial"/>
              <a:buChar char="●"/>
            </a:pPr>
            <a:r>
              <a:rPr lang="en">
                <a:solidFill>
                  <a:schemeClr val="lt1"/>
                </a:solidFill>
              </a:rPr>
              <a:t>Primary goal:  train &amp; evaluate Gradient Boosting Regressor (GBR) model for predicting McDonald's quarterly revenue</a:t>
            </a:r>
            <a:endParaRPr>
              <a:solidFill>
                <a:schemeClr val="lt1"/>
              </a:solidFill>
            </a:endParaRPr>
          </a:p>
          <a:p>
            <a:pPr indent="-311150" lvl="0" marL="457200" rtl="0" algn="l">
              <a:spcBef>
                <a:spcPts val="0"/>
              </a:spcBef>
              <a:spcAft>
                <a:spcPts val="0"/>
              </a:spcAft>
              <a:buClr>
                <a:schemeClr val="lt1"/>
              </a:buClr>
              <a:buSzPts val="1300"/>
              <a:buFont typeface="Nunito"/>
              <a:buChar char="●"/>
            </a:pPr>
            <a:r>
              <a:rPr lang="en">
                <a:solidFill>
                  <a:schemeClr val="lt1"/>
                </a:solidFill>
              </a:rPr>
              <a:t>Validated model's performance using final hold-out test set &amp; Time-Series Cross-Validation (TSCV).</a:t>
            </a:r>
            <a:endParaRPr>
              <a:solidFill>
                <a:schemeClr val="lt1"/>
              </a:solidFill>
            </a:endParaRPr>
          </a:p>
          <a:p>
            <a:pPr indent="-311150" lvl="0" marL="457200" rtl="0" algn="l">
              <a:spcBef>
                <a:spcPts val="0"/>
              </a:spcBef>
              <a:spcAft>
                <a:spcPts val="0"/>
              </a:spcAft>
              <a:buClr>
                <a:schemeClr val="lt1"/>
              </a:buClr>
              <a:buSzPts val="1300"/>
              <a:buFont typeface="Nunito"/>
              <a:buChar char="●"/>
            </a:pPr>
            <a:r>
              <a:rPr lang="en">
                <a:solidFill>
                  <a:schemeClr val="lt1"/>
                </a:solidFill>
              </a:rPr>
              <a:t>Initial steps : cleaning string data, converting quarterly data from wide to long and creating proper time-series index.</a:t>
            </a:r>
            <a:endParaRPr>
              <a:solidFill>
                <a:schemeClr val="lt1"/>
              </a:solidFill>
            </a:endParaRPr>
          </a:p>
          <a:p>
            <a:pPr indent="-311150" lvl="0" marL="457200" rtl="0" algn="l">
              <a:spcBef>
                <a:spcPts val="0"/>
              </a:spcBef>
              <a:spcAft>
                <a:spcPts val="0"/>
              </a:spcAft>
              <a:buClr>
                <a:schemeClr val="lt1"/>
              </a:buClr>
              <a:buSzPts val="1300"/>
              <a:buFont typeface="Nunito"/>
              <a:buChar char="●"/>
            </a:pPr>
            <a:r>
              <a:rPr lang="en">
                <a:solidFill>
                  <a:schemeClr val="lt1"/>
                </a:solidFill>
              </a:rPr>
              <a:t>Time-series features were engineered, including 1-Quarter and 4-Quarter revenue lags &amp; 4-Quarter rolling stats</a:t>
            </a:r>
            <a:endParaRPr>
              <a:solidFill>
                <a:schemeClr val="lt1"/>
              </a:solidFill>
            </a:endParaRPr>
          </a:p>
          <a:p>
            <a:pPr indent="-311150" lvl="0" marL="457200" rtl="0" algn="l">
              <a:spcBef>
                <a:spcPts val="0"/>
              </a:spcBef>
              <a:spcAft>
                <a:spcPts val="0"/>
              </a:spcAft>
              <a:buClr>
                <a:schemeClr val="lt1"/>
              </a:buClr>
              <a:buSzPts val="1300"/>
              <a:buFont typeface="Nunito"/>
              <a:buChar char="●"/>
            </a:pPr>
            <a:r>
              <a:rPr lang="en">
                <a:solidFill>
                  <a:schemeClr val="lt1"/>
                </a:solidFill>
              </a:rPr>
              <a:t>Dataset was split into large training/validation set and final 4-quarter hold-out test set</a:t>
            </a:r>
            <a:endParaRPr>
              <a:solidFill>
                <a:schemeClr val="lt1"/>
              </a:solidFill>
            </a:endParaRPr>
          </a:p>
          <a:p>
            <a:pPr indent="-311150" lvl="0" marL="457200" rtl="0" algn="l">
              <a:spcBef>
                <a:spcPts val="0"/>
              </a:spcBef>
              <a:spcAft>
                <a:spcPts val="0"/>
              </a:spcAft>
              <a:buClr>
                <a:schemeClr val="lt1"/>
              </a:buClr>
              <a:buSzPts val="1300"/>
              <a:buFont typeface="Nunito"/>
              <a:buChar char="●"/>
            </a:pPr>
            <a:r>
              <a:rPr lang="en">
                <a:solidFill>
                  <a:schemeClr val="lt1"/>
                </a:solidFill>
              </a:rPr>
              <a:t>Final hold-out test set showed high level of accuracy</a:t>
            </a:r>
            <a:endParaRPr>
              <a:solidFill>
                <a:schemeClr val="lt1"/>
              </a:solidFill>
            </a:endParaRPr>
          </a:p>
          <a:p>
            <a:pPr indent="-311150" lvl="1" marL="914400" rtl="0" algn="l">
              <a:spcBef>
                <a:spcPts val="0"/>
              </a:spcBef>
              <a:spcAft>
                <a:spcPts val="0"/>
              </a:spcAft>
              <a:buClr>
                <a:schemeClr val="lt1"/>
              </a:buClr>
              <a:buSzPts val="1300"/>
              <a:buFont typeface="Nunito"/>
              <a:buAutoNum type="alphaLcPeriod"/>
            </a:pPr>
            <a:r>
              <a:rPr lang="en" sz="1300">
                <a:solidFill>
                  <a:schemeClr val="lt1"/>
                </a:solidFill>
              </a:rPr>
              <a:t>Root Mean Squared Error: $0.2779</a:t>
            </a:r>
            <a:r>
              <a:rPr lang="en" sz="1300">
                <a:solidFill>
                  <a:schemeClr val="lt1"/>
                </a:solidFill>
              </a:rPr>
              <a:t> </a:t>
            </a:r>
            <a:r>
              <a:rPr lang="en" sz="1300">
                <a:solidFill>
                  <a:schemeClr val="lt1"/>
                </a:solidFill>
              </a:rPr>
              <a:t>Billion</a:t>
            </a:r>
            <a:endParaRPr sz="1300">
              <a:solidFill>
                <a:schemeClr val="lt1"/>
              </a:solidFill>
            </a:endParaRPr>
          </a:p>
          <a:p>
            <a:pPr indent="-311150" lvl="1" marL="914400" rtl="0" algn="l">
              <a:spcBef>
                <a:spcPts val="0"/>
              </a:spcBef>
              <a:spcAft>
                <a:spcPts val="0"/>
              </a:spcAft>
              <a:buClr>
                <a:schemeClr val="lt1"/>
              </a:buClr>
              <a:buSzPts val="1300"/>
              <a:buFont typeface="Nunito"/>
              <a:buAutoNum type="alphaLcPeriod"/>
            </a:pPr>
            <a:r>
              <a:rPr lang="en" sz="1300">
                <a:solidFill>
                  <a:schemeClr val="lt1"/>
                </a:solidFill>
              </a:rPr>
              <a:t>Mean Absolute Error: $0.2028 Billion</a:t>
            </a:r>
            <a:endParaRPr sz="1300">
              <a:solidFill>
                <a:schemeClr val="lt1"/>
              </a:solidFill>
            </a:endParaRPr>
          </a:p>
          <a:p>
            <a:pPr indent="-311150" lvl="0" marL="457200" rtl="0" algn="l">
              <a:spcBef>
                <a:spcPts val="0"/>
              </a:spcBef>
              <a:spcAft>
                <a:spcPts val="0"/>
              </a:spcAft>
              <a:buClr>
                <a:schemeClr val="lt1"/>
              </a:buClr>
              <a:buSzPts val="1300"/>
              <a:buFont typeface="Arial"/>
              <a:buChar char="●"/>
            </a:pPr>
            <a:r>
              <a:rPr lang="en">
                <a:solidFill>
                  <a:schemeClr val="lt1"/>
                </a:solidFill>
              </a:rPr>
              <a:t>Average Cross-Validation RMSE: $0.5771 Billion was higher than the test RMSE</a:t>
            </a:r>
            <a:endParaRPr>
              <a:solidFill>
                <a:schemeClr val="lt1"/>
              </a:solidFill>
            </a:endParaRPr>
          </a:p>
          <a:p>
            <a:pPr indent="-311150" lvl="1" marL="914400" rtl="0" algn="l">
              <a:spcBef>
                <a:spcPts val="0"/>
              </a:spcBef>
              <a:spcAft>
                <a:spcPts val="0"/>
              </a:spcAft>
              <a:buClr>
                <a:schemeClr val="lt1"/>
              </a:buClr>
              <a:buSzPts val="1300"/>
              <a:buFont typeface="Arial"/>
              <a:buAutoNum type="alphaLcPeriod"/>
            </a:pPr>
            <a:r>
              <a:rPr lang="en" sz="1300">
                <a:solidFill>
                  <a:schemeClr val="lt1"/>
                </a:solidFill>
              </a:rPr>
              <a:t>Suggests better performance on most recent, unseen data</a:t>
            </a:r>
            <a:endParaRPr sz="1300">
              <a:solidFill>
                <a:schemeClr val="lt1"/>
              </a:solidFill>
            </a:endParaRPr>
          </a:p>
          <a:p>
            <a:pPr indent="-311150" lvl="0" marL="457200" rtl="0" algn="l">
              <a:spcBef>
                <a:spcPts val="0"/>
              </a:spcBef>
              <a:spcAft>
                <a:spcPts val="0"/>
              </a:spcAft>
              <a:buClr>
                <a:schemeClr val="lt1"/>
              </a:buClr>
              <a:buSzPts val="1300"/>
              <a:buFont typeface="Arial"/>
              <a:buChar char="●"/>
            </a:pPr>
            <a:r>
              <a:rPr lang="en">
                <a:solidFill>
                  <a:schemeClr val="lt1"/>
                </a:solidFill>
              </a:rPr>
              <a:t>Revenue_Lag_1Q (0.66) was identified as most important feature</a:t>
            </a:r>
            <a:endParaRPr>
              <a:solidFill>
                <a:schemeClr val="lt1"/>
              </a:solidFill>
            </a:endParaRPr>
          </a:p>
          <a:p>
            <a:pPr indent="-311150" lvl="0" marL="457200" rtl="0" algn="l">
              <a:spcBef>
                <a:spcPts val="0"/>
              </a:spcBef>
              <a:spcAft>
                <a:spcPts val="0"/>
              </a:spcAft>
              <a:buClr>
                <a:schemeClr val="lt1"/>
              </a:buClr>
              <a:buSzPts val="1300"/>
              <a:buFont typeface="Nunito"/>
              <a:buChar char="●"/>
            </a:pPr>
            <a:r>
              <a:rPr lang="en">
                <a:solidFill>
                  <a:schemeClr val="lt1"/>
                </a:solidFill>
              </a:rPr>
              <a:t>Other financial and economic features weren’t as heavy contributors to prediction power</a:t>
            </a:r>
            <a:endParaRPr>
              <a:solidFill>
                <a:schemeClr val="lt1"/>
              </a:solidFill>
            </a:endParaRPr>
          </a:p>
        </p:txBody>
      </p:sp>
      <p:pic>
        <p:nvPicPr>
          <p:cNvPr id="316" name="Google Shape;316;p18"/>
          <p:cNvPicPr preferRelativeResize="0"/>
          <p:nvPr/>
        </p:nvPicPr>
        <p:blipFill>
          <a:blip r:embed="rId3">
            <a:alphaModFix/>
          </a:blip>
          <a:stretch>
            <a:fillRect/>
          </a:stretch>
        </p:blipFill>
        <p:spPr>
          <a:xfrm>
            <a:off x="152400" y="737975"/>
            <a:ext cx="2959250" cy="4253124"/>
          </a:xfrm>
          <a:prstGeom prst="rect">
            <a:avLst/>
          </a:prstGeom>
          <a:noFill/>
          <a:ln>
            <a:noFill/>
          </a:ln>
        </p:spPr>
      </p:pic>
      <p:sp>
        <p:nvSpPr>
          <p:cNvPr id="317" name="Google Shape;317;p18"/>
          <p:cNvSpPr txBox="1"/>
          <p:nvPr>
            <p:ph type="title"/>
          </p:nvPr>
        </p:nvSpPr>
        <p:spPr>
          <a:xfrm>
            <a:off x="1237675" y="69275"/>
            <a:ext cx="7030500" cy="668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Gradient Boosting Model</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9"/>
          <p:cNvSpPr txBox="1"/>
          <p:nvPr>
            <p:ph type="title"/>
          </p:nvPr>
        </p:nvSpPr>
        <p:spPr>
          <a:xfrm>
            <a:off x="1315400" y="153175"/>
            <a:ext cx="7030500" cy="682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GBR Hyperparameter Tuning</a:t>
            </a:r>
            <a:endParaRPr>
              <a:solidFill>
                <a:schemeClr val="lt1"/>
              </a:solidFill>
            </a:endParaRPr>
          </a:p>
        </p:txBody>
      </p:sp>
      <p:sp>
        <p:nvSpPr>
          <p:cNvPr id="323" name="Google Shape;323;p19"/>
          <p:cNvSpPr txBox="1"/>
          <p:nvPr>
            <p:ph idx="1" type="body"/>
          </p:nvPr>
        </p:nvSpPr>
        <p:spPr>
          <a:xfrm>
            <a:off x="924750" y="3022719"/>
            <a:ext cx="7294500" cy="1605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sz="1400">
                <a:solidFill>
                  <a:schemeClr val="lt1"/>
                </a:solidFill>
              </a:rPr>
              <a:t>Pri</a:t>
            </a:r>
            <a:r>
              <a:rPr lang="en" sz="1400">
                <a:solidFill>
                  <a:schemeClr val="lt1"/>
                </a:solidFill>
              </a:rPr>
              <a:t>mary goal: Optimize Gradient Boosting Regressor (GBR) model's hyperparameters </a:t>
            </a:r>
            <a:endParaRPr sz="1400">
              <a:solidFill>
                <a:schemeClr val="lt1"/>
              </a:solidFill>
            </a:endParaRPr>
          </a:p>
          <a:p>
            <a:pPr indent="-304800" lvl="1" marL="914400" rtl="0" algn="l">
              <a:spcBef>
                <a:spcPts val="0"/>
              </a:spcBef>
              <a:spcAft>
                <a:spcPts val="0"/>
              </a:spcAft>
              <a:buClr>
                <a:schemeClr val="lt1"/>
              </a:buClr>
              <a:buSzPts val="1200"/>
              <a:buChar char="○"/>
            </a:pPr>
            <a:r>
              <a:rPr lang="en" sz="1200">
                <a:solidFill>
                  <a:schemeClr val="lt1"/>
                </a:solidFill>
              </a:rPr>
              <a:t>Used Grid Search &amp; Time-Series Cross-Validation (TSCV).</a:t>
            </a:r>
            <a:endParaRPr sz="1200">
              <a:solidFill>
                <a:schemeClr val="lt1"/>
              </a:solidFill>
            </a:endParaRPr>
          </a:p>
          <a:p>
            <a:pPr indent="-317500" lvl="0" marL="457200" rtl="0" algn="l">
              <a:spcBef>
                <a:spcPts val="0"/>
              </a:spcBef>
              <a:spcAft>
                <a:spcPts val="0"/>
              </a:spcAft>
              <a:buClr>
                <a:schemeClr val="lt1"/>
              </a:buClr>
              <a:buSzPts val="1400"/>
              <a:buChar char="●"/>
            </a:pPr>
            <a:r>
              <a:rPr lang="en" sz="1400">
                <a:solidFill>
                  <a:schemeClr val="lt1"/>
                </a:solidFill>
              </a:rPr>
              <a:t>Tuning process explored 27 candidate parameter comos across 4 time-series folds; totaled 108 model fits</a:t>
            </a:r>
            <a:endParaRPr sz="1400">
              <a:solidFill>
                <a:schemeClr val="lt1"/>
              </a:solidFill>
            </a:endParaRPr>
          </a:p>
          <a:p>
            <a:pPr indent="-317500" lvl="0" marL="457200" rtl="0" algn="l">
              <a:spcBef>
                <a:spcPts val="0"/>
              </a:spcBef>
              <a:spcAft>
                <a:spcPts val="0"/>
              </a:spcAft>
              <a:buClr>
                <a:schemeClr val="lt1"/>
              </a:buClr>
              <a:buSzPts val="1400"/>
              <a:buChar char="●"/>
            </a:pPr>
            <a:r>
              <a:rPr lang="en" sz="1400">
                <a:solidFill>
                  <a:schemeClr val="lt1"/>
                </a:solidFill>
              </a:rPr>
              <a:t>Best parameters : {'learning_rate': 0.05, 'max_depth': 3, 'n_estimators': 100}</a:t>
            </a:r>
            <a:endParaRPr sz="1400">
              <a:solidFill>
                <a:schemeClr val="lt1"/>
              </a:solidFill>
            </a:endParaRPr>
          </a:p>
          <a:p>
            <a:pPr indent="-317500" lvl="0" marL="457200" rtl="0" algn="l">
              <a:spcBef>
                <a:spcPts val="0"/>
              </a:spcBef>
              <a:spcAft>
                <a:spcPts val="0"/>
              </a:spcAft>
              <a:buClr>
                <a:schemeClr val="lt1"/>
              </a:buClr>
              <a:buSzPts val="1400"/>
              <a:buChar char="●"/>
            </a:pPr>
            <a:r>
              <a:rPr lang="en" sz="1400">
                <a:solidFill>
                  <a:schemeClr val="lt1"/>
                </a:solidFill>
              </a:rPr>
              <a:t>Best Historical Cross-Validation RMSE: $0.6050$ Billion</a:t>
            </a:r>
            <a:endParaRPr sz="1400">
              <a:solidFill>
                <a:schemeClr val="lt1"/>
              </a:solidFill>
            </a:endParaRPr>
          </a:p>
        </p:txBody>
      </p:sp>
      <p:pic>
        <p:nvPicPr>
          <p:cNvPr id="324" name="Google Shape;324;p19"/>
          <p:cNvPicPr preferRelativeResize="0"/>
          <p:nvPr/>
        </p:nvPicPr>
        <p:blipFill rotWithShape="1">
          <a:blip r:embed="rId3">
            <a:alphaModFix/>
          </a:blip>
          <a:srcRect b="0" l="0" r="5838" t="0"/>
          <a:stretch/>
        </p:blipFill>
        <p:spPr>
          <a:xfrm>
            <a:off x="448625" y="835975"/>
            <a:ext cx="8246749" cy="2015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0"/>
          <p:cNvSpPr txBox="1"/>
          <p:nvPr>
            <p:ph type="title"/>
          </p:nvPr>
        </p:nvSpPr>
        <p:spPr>
          <a:xfrm>
            <a:off x="365350" y="153175"/>
            <a:ext cx="8595900" cy="68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chemeClr val="lt1"/>
                </a:solidFill>
              </a:rPr>
              <a:t>SARIMA Benchmark Modeling + Final Model Comparison</a:t>
            </a:r>
            <a:endParaRPr sz="2320">
              <a:solidFill>
                <a:schemeClr val="lt1"/>
              </a:solidFill>
            </a:endParaRPr>
          </a:p>
        </p:txBody>
      </p:sp>
      <p:sp>
        <p:nvSpPr>
          <p:cNvPr id="330" name="Google Shape;330;p20"/>
          <p:cNvSpPr txBox="1"/>
          <p:nvPr>
            <p:ph idx="1" type="body"/>
          </p:nvPr>
        </p:nvSpPr>
        <p:spPr>
          <a:xfrm>
            <a:off x="4295925" y="835975"/>
            <a:ext cx="4713900" cy="41217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Clr>
                <a:schemeClr val="lt1"/>
              </a:buClr>
              <a:buSzPts val="1300"/>
              <a:buChar char="●"/>
            </a:pPr>
            <a:r>
              <a:rPr lang="en">
                <a:solidFill>
                  <a:schemeClr val="lt1"/>
                </a:solidFill>
              </a:rPr>
              <a:t>Aim: </a:t>
            </a:r>
            <a:r>
              <a:rPr lang="en">
                <a:solidFill>
                  <a:schemeClr val="lt1"/>
                </a:solidFill>
              </a:rPr>
              <a:t>fit SARIMAX model to revenue target as statistical benchmark</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Model: SARIMA(1, 1, 1)x(0, 1, 1, 4) </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Aim: capture both autoregressive &amp; seasonal (4-quarter) components of time series</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trained on training data &amp; evaluated on same 4-quarter hold-out test set</a:t>
            </a:r>
            <a:endParaRPr>
              <a:solidFill>
                <a:schemeClr val="lt1"/>
              </a:solidFill>
            </a:endParaRPr>
          </a:p>
          <a:p>
            <a:pPr indent="-311150" lvl="0" marL="457200" rtl="0" algn="l">
              <a:spcBef>
                <a:spcPts val="0"/>
              </a:spcBef>
              <a:spcAft>
                <a:spcPts val="0"/>
              </a:spcAft>
              <a:buClr>
                <a:schemeClr val="lt1"/>
              </a:buClr>
              <a:buSzPts val="1300"/>
              <a:buChar char="●"/>
            </a:pPr>
            <a:r>
              <a:rPr lang="en">
                <a:solidFill>
                  <a:schemeClr val="lt1"/>
                </a:solidFill>
              </a:rPr>
              <a:t>Out of Sample Test Results: </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Root Mean Squared Error:  $0.1870 Billion</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Mean Absolute Error: $0.1635 Billion</a:t>
            </a:r>
            <a:endParaRPr>
              <a:solidFill>
                <a:schemeClr val="lt1"/>
              </a:solidFill>
            </a:endParaRPr>
          </a:p>
          <a:p>
            <a:pPr indent="-311150" lvl="0" marL="457200" rtl="0" algn="l">
              <a:spcBef>
                <a:spcPts val="0"/>
              </a:spcBef>
              <a:spcAft>
                <a:spcPts val="0"/>
              </a:spcAft>
              <a:buClr>
                <a:schemeClr val="lt1"/>
              </a:buClr>
              <a:buSzPts val="1300"/>
              <a:buChar char="●"/>
            </a:pPr>
            <a:r>
              <a:rPr lang="en">
                <a:solidFill>
                  <a:schemeClr val="lt1"/>
                </a:solidFill>
              </a:rPr>
              <a:t>Final Model Comparison: </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Compare performance of GBR model against SARIMA benchmark: </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GBR model:</a:t>
            </a:r>
            <a:endParaRPr>
              <a:solidFill>
                <a:schemeClr val="lt1"/>
              </a:solidFill>
            </a:endParaRPr>
          </a:p>
          <a:p>
            <a:pPr indent="-298450" lvl="2" marL="1371600" rtl="0" algn="l">
              <a:spcBef>
                <a:spcPts val="0"/>
              </a:spcBef>
              <a:spcAft>
                <a:spcPts val="0"/>
              </a:spcAft>
              <a:buClr>
                <a:schemeClr val="lt1"/>
              </a:buClr>
              <a:buSzPts val="1100"/>
              <a:buChar char="■"/>
            </a:pPr>
            <a:r>
              <a:rPr lang="en">
                <a:solidFill>
                  <a:schemeClr val="lt1"/>
                </a:solidFill>
              </a:rPr>
              <a:t>RMSE: $0.2779 Billion</a:t>
            </a:r>
            <a:endParaRPr>
              <a:solidFill>
                <a:schemeClr val="lt1"/>
              </a:solidFill>
            </a:endParaRPr>
          </a:p>
          <a:p>
            <a:pPr indent="-298450" lvl="1" marL="914400" rtl="0" algn="l">
              <a:spcBef>
                <a:spcPts val="0"/>
              </a:spcBef>
              <a:spcAft>
                <a:spcPts val="0"/>
              </a:spcAft>
              <a:buClr>
                <a:schemeClr val="lt1"/>
              </a:buClr>
              <a:buSzPts val="1100"/>
              <a:buChar char="○"/>
            </a:pPr>
            <a:r>
              <a:rPr lang="en">
                <a:solidFill>
                  <a:schemeClr val="lt1"/>
                </a:solidFill>
              </a:rPr>
              <a:t>SARIMA model:</a:t>
            </a:r>
            <a:endParaRPr>
              <a:solidFill>
                <a:schemeClr val="lt1"/>
              </a:solidFill>
            </a:endParaRPr>
          </a:p>
          <a:p>
            <a:pPr indent="-298450" lvl="2" marL="1371600" rtl="0" algn="l">
              <a:spcBef>
                <a:spcPts val="0"/>
              </a:spcBef>
              <a:spcAft>
                <a:spcPts val="0"/>
              </a:spcAft>
              <a:buClr>
                <a:schemeClr val="lt1"/>
              </a:buClr>
              <a:buSzPts val="1100"/>
              <a:buChar char="■"/>
            </a:pPr>
            <a:r>
              <a:rPr lang="en">
                <a:solidFill>
                  <a:schemeClr val="lt1"/>
                </a:solidFill>
              </a:rPr>
              <a:t>RMSE: $0.1870 Billion.</a:t>
            </a:r>
            <a:endParaRPr>
              <a:solidFill>
                <a:schemeClr val="lt1"/>
              </a:solidFill>
            </a:endParaRPr>
          </a:p>
          <a:p>
            <a:pPr indent="0" lvl="0" marL="0" rtl="0" algn="l">
              <a:spcBef>
                <a:spcPts val="1200"/>
              </a:spcBef>
              <a:spcAft>
                <a:spcPts val="1200"/>
              </a:spcAft>
              <a:buNone/>
            </a:pPr>
            <a:r>
              <a:rPr lang="en">
                <a:solidFill>
                  <a:schemeClr val="lt1"/>
                </a:solidFill>
              </a:rPr>
              <a:t>Conclusion: </a:t>
            </a:r>
            <a:r>
              <a:rPr b="1" lang="en">
                <a:solidFill>
                  <a:schemeClr val="lt1"/>
                </a:solidFill>
              </a:rPr>
              <a:t>SARIMA model provided significantly better short-term forecasting accuracy on test set. The SARIMA model sets a very high benchmark, which proves that the internal historical structure of McDonald’s revenue is currently the most reliable predictor of its future value.</a:t>
            </a:r>
            <a:endParaRPr b="1">
              <a:solidFill>
                <a:schemeClr val="lt1"/>
              </a:solidFill>
            </a:endParaRPr>
          </a:p>
        </p:txBody>
      </p:sp>
      <p:pic>
        <p:nvPicPr>
          <p:cNvPr id="331" name="Google Shape;331;p20"/>
          <p:cNvPicPr preferRelativeResize="0"/>
          <p:nvPr/>
        </p:nvPicPr>
        <p:blipFill>
          <a:blip r:embed="rId3">
            <a:alphaModFix/>
          </a:blip>
          <a:stretch>
            <a:fillRect/>
          </a:stretch>
        </p:blipFill>
        <p:spPr>
          <a:xfrm>
            <a:off x="137925" y="835975"/>
            <a:ext cx="4266700" cy="2726225"/>
          </a:xfrm>
          <a:prstGeom prst="rect">
            <a:avLst/>
          </a:prstGeom>
          <a:noFill/>
          <a:ln>
            <a:noFill/>
          </a:ln>
        </p:spPr>
      </p:pic>
      <p:pic>
        <p:nvPicPr>
          <p:cNvPr id="332" name="Google Shape;332;p20"/>
          <p:cNvPicPr preferRelativeResize="0"/>
          <p:nvPr/>
        </p:nvPicPr>
        <p:blipFill>
          <a:blip r:embed="rId4">
            <a:alphaModFix/>
          </a:blip>
          <a:stretch>
            <a:fillRect/>
          </a:stretch>
        </p:blipFill>
        <p:spPr>
          <a:xfrm>
            <a:off x="137925" y="3696000"/>
            <a:ext cx="4158000" cy="501246"/>
          </a:xfrm>
          <a:prstGeom prst="rect">
            <a:avLst/>
          </a:prstGeom>
          <a:noFill/>
          <a:ln>
            <a:noFill/>
          </a:ln>
        </p:spPr>
      </p:pic>
      <p:sp>
        <p:nvSpPr>
          <p:cNvPr id="333" name="Google Shape;333;p20"/>
          <p:cNvSpPr/>
          <p:nvPr/>
        </p:nvSpPr>
        <p:spPr>
          <a:xfrm>
            <a:off x="0" y="3643375"/>
            <a:ext cx="2125200" cy="3654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34" name="Google Shape;334;p20"/>
          <p:cNvSpPr/>
          <p:nvPr/>
        </p:nvSpPr>
        <p:spPr>
          <a:xfrm>
            <a:off x="2085400" y="3903800"/>
            <a:ext cx="527400" cy="3945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1"/>
          <p:cNvSpPr txBox="1"/>
          <p:nvPr>
            <p:ph type="title"/>
          </p:nvPr>
        </p:nvSpPr>
        <p:spPr>
          <a:xfrm>
            <a:off x="365350" y="153175"/>
            <a:ext cx="8595900" cy="68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chemeClr val="lt1"/>
                </a:solidFill>
              </a:rPr>
              <a:t>SARIMA Benchmark Modeling + Final Model Comparison</a:t>
            </a:r>
            <a:endParaRPr sz="2320">
              <a:solidFill>
                <a:schemeClr val="lt1"/>
              </a:solidFill>
            </a:endParaRPr>
          </a:p>
        </p:txBody>
      </p:sp>
      <p:sp>
        <p:nvSpPr>
          <p:cNvPr id="340" name="Google Shape;340;p21"/>
          <p:cNvSpPr txBox="1"/>
          <p:nvPr>
            <p:ph idx="1" type="body"/>
          </p:nvPr>
        </p:nvSpPr>
        <p:spPr>
          <a:xfrm>
            <a:off x="365350" y="4060025"/>
            <a:ext cx="8819400" cy="902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chemeClr val="lt1"/>
                </a:solidFill>
              </a:rPr>
              <a:t>SARIMA model provided significantly better short-term forecasting accuracy on test set. The SARIMA model sets a very high benchmark, which proves that the internal historical structure of McDonald’s revenue is currently the most reliable predictor of its future value.</a:t>
            </a:r>
            <a:endParaRPr b="1">
              <a:solidFill>
                <a:schemeClr val="lt1"/>
              </a:solidFill>
            </a:endParaRPr>
          </a:p>
        </p:txBody>
      </p:sp>
      <p:pic>
        <p:nvPicPr>
          <p:cNvPr id="341" name="Google Shape;341;p21"/>
          <p:cNvPicPr preferRelativeResize="0"/>
          <p:nvPr/>
        </p:nvPicPr>
        <p:blipFill>
          <a:blip r:embed="rId3">
            <a:alphaModFix/>
          </a:blip>
          <a:stretch>
            <a:fillRect/>
          </a:stretch>
        </p:blipFill>
        <p:spPr>
          <a:xfrm>
            <a:off x="954513" y="999635"/>
            <a:ext cx="7483194" cy="902098"/>
          </a:xfrm>
          <a:prstGeom prst="rect">
            <a:avLst/>
          </a:prstGeom>
          <a:noFill/>
          <a:ln>
            <a:noFill/>
          </a:ln>
        </p:spPr>
      </p:pic>
      <p:sp>
        <p:nvSpPr>
          <p:cNvPr id="342" name="Google Shape;342;p21"/>
          <p:cNvSpPr/>
          <p:nvPr/>
        </p:nvSpPr>
        <p:spPr>
          <a:xfrm>
            <a:off x="706288" y="904925"/>
            <a:ext cx="3824700" cy="657600"/>
          </a:xfrm>
          <a:prstGeom prst="ellipse">
            <a:avLst/>
          </a:prstGeom>
          <a:noFill/>
          <a:ln cap="flat" cmpd="sng" w="68575">
            <a:solidFill>
              <a:srgbClr val="FF0000"/>
            </a:solidFill>
            <a:prstDash val="solid"/>
            <a:round/>
            <a:headEnd len="sm" w="sm" type="none"/>
            <a:tailEnd len="sm" w="sm" type="none"/>
          </a:ln>
        </p:spPr>
        <p:txBody>
          <a:bodyPr anchorCtr="0" anchor="ctr" bIns="164550" lIns="164550" spcFirstLastPara="1" rIns="164550" wrap="square" tIns="164550">
            <a:noAutofit/>
          </a:bodyPr>
          <a:lstStyle/>
          <a:p>
            <a:pPr indent="0" lvl="0" marL="0" rtl="0" algn="ctr">
              <a:spcBef>
                <a:spcPts val="0"/>
              </a:spcBef>
              <a:spcAft>
                <a:spcPts val="0"/>
              </a:spcAft>
              <a:buNone/>
            </a:pPr>
            <a:r>
              <a:t/>
            </a:r>
            <a:endParaRPr sz="2519">
              <a:latin typeface="Nunito"/>
              <a:ea typeface="Nunito"/>
              <a:cs typeface="Nunito"/>
              <a:sym typeface="Nunito"/>
            </a:endParaRPr>
          </a:p>
        </p:txBody>
      </p:sp>
      <p:sp>
        <p:nvSpPr>
          <p:cNvPr id="343" name="Google Shape;343;p21"/>
          <p:cNvSpPr/>
          <p:nvPr/>
        </p:nvSpPr>
        <p:spPr>
          <a:xfrm>
            <a:off x="4459406" y="1373614"/>
            <a:ext cx="949200" cy="710100"/>
          </a:xfrm>
          <a:prstGeom prst="ellipse">
            <a:avLst/>
          </a:prstGeom>
          <a:noFill/>
          <a:ln cap="flat" cmpd="sng" w="68575">
            <a:solidFill>
              <a:srgbClr val="FF0000"/>
            </a:solidFill>
            <a:prstDash val="solid"/>
            <a:round/>
            <a:headEnd len="sm" w="sm" type="none"/>
            <a:tailEnd len="sm" w="sm" type="none"/>
          </a:ln>
        </p:spPr>
        <p:txBody>
          <a:bodyPr anchorCtr="0" anchor="ctr" bIns="164550" lIns="164550" spcFirstLastPara="1" rIns="164550" wrap="square" tIns="164550">
            <a:noAutofit/>
          </a:bodyPr>
          <a:lstStyle/>
          <a:p>
            <a:pPr indent="0" lvl="0" marL="0" rtl="0" algn="ctr">
              <a:spcBef>
                <a:spcPts val="0"/>
              </a:spcBef>
              <a:spcAft>
                <a:spcPts val="0"/>
              </a:spcAft>
              <a:buNone/>
            </a:pPr>
            <a:r>
              <a:t/>
            </a:r>
            <a:endParaRPr sz="2519">
              <a:latin typeface="Nunito"/>
              <a:ea typeface="Nunito"/>
              <a:cs typeface="Nunito"/>
              <a:sym typeface="Nunito"/>
            </a:endParaRPr>
          </a:p>
        </p:txBody>
      </p:sp>
      <p:graphicFrame>
        <p:nvGraphicFramePr>
          <p:cNvPr id="344" name="Google Shape;344;p21"/>
          <p:cNvGraphicFramePr/>
          <p:nvPr/>
        </p:nvGraphicFramePr>
        <p:xfrm>
          <a:off x="188125" y="2283625"/>
          <a:ext cx="3000000" cy="3000000"/>
        </p:xfrm>
        <a:graphic>
          <a:graphicData uri="http://schemas.openxmlformats.org/drawingml/2006/table">
            <a:tbl>
              <a:tblPr>
                <a:noFill/>
                <a:tableStyleId>{CC0E9D08-5E6B-4494-9869-2E4EE0AF9F50}</a:tableStyleId>
              </a:tblPr>
              <a:tblGrid>
                <a:gridCol w="1485900"/>
                <a:gridCol w="1485900"/>
                <a:gridCol w="1485900"/>
                <a:gridCol w="1485900"/>
              </a:tblGrid>
              <a:tr h="12700">
                <a:tc>
                  <a:txBody>
                    <a:bodyPr/>
                    <a:lstStyle/>
                    <a:p>
                      <a:pPr indent="0" lvl="0" marL="0" rtl="0" algn="l">
                        <a:spcBef>
                          <a:spcPts val="0"/>
                        </a:spcBef>
                        <a:spcAft>
                          <a:spcPts val="0"/>
                        </a:spcAft>
                        <a:buNone/>
                      </a:pPr>
                      <a:r>
                        <a:rPr lang="en" sz="1100">
                          <a:solidFill>
                            <a:schemeClr val="lt1"/>
                          </a:solidFill>
                        </a:rPr>
                        <a:t>Metric</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SARIMA Result</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GBR Result</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Comparison</a:t>
                      </a:r>
                      <a:endParaRPr sz="1100">
                        <a:solidFill>
                          <a:schemeClr val="lt1"/>
                        </a:solidFill>
                      </a:endParaRPr>
                    </a:p>
                  </a:txBody>
                  <a:tcPr marT="63500" marB="63500" marR="63500" marL="63500"/>
                </a:tc>
              </a:tr>
              <a:tr h="12700">
                <a:tc>
                  <a:txBody>
                    <a:bodyPr/>
                    <a:lstStyle/>
                    <a:p>
                      <a:pPr indent="0" lvl="0" marL="0" rtl="0" algn="l">
                        <a:spcBef>
                          <a:spcPts val="0"/>
                        </a:spcBef>
                        <a:spcAft>
                          <a:spcPts val="0"/>
                        </a:spcAft>
                        <a:buNone/>
                      </a:pPr>
                      <a:r>
                        <a:rPr lang="en" sz="1100">
                          <a:solidFill>
                            <a:schemeClr val="lt1"/>
                          </a:solidFill>
                        </a:rPr>
                        <a:t>RMSE</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0.1870</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0.2779</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SARIMA performs better on this test set</a:t>
                      </a:r>
                      <a:endParaRPr sz="1100">
                        <a:solidFill>
                          <a:schemeClr val="lt1"/>
                        </a:solidFill>
                      </a:endParaRPr>
                    </a:p>
                  </a:txBody>
                  <a:tcPr marT="63500" marB="63500" marR="63500" marL="63500"/>
                </a:tc>
              </a:tr>
              <a:tr h="12700">
                <a:tc>
                  <a:txBody>
                    <a:bodyPr/>
                    <a:lstStyle/>
                    <a:p>
                      <a:pPr indent="0" lvl="0" marL="0" rtl="0" algn="l">
                        <a:spcBef>
                          <a:spcPts val="0"/>
                        </a:spcBef>
                        <a:spcAft>
                          <a:spcPts val="0"/>
                        </a:spcAft>
                        <a:buNone/>
                      </a:pPr>
                      <a:r>
                        <a:rPr lang="en" sz="1100">
                          <a:solidFill>
                            <a:schemeClr val="lt1"/>
                          </a:solidFill>
                        </a:rPr>
                        <a:t>MAE</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0.1635</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0.2028</a:t>
                      </a:r>
                      <a:endParaRPr sz="1100">
                        <a:solidFill>
                          <a:schemeClr val="lt1"/>
                        </a:solidFill>
                      </a:endParaRPr>
                    </a:p>
                  </a:txBody>
                  <a:tcPr marT="63500" marB="63500" marR="63500" marL="63500"/>
                </a:tc>
                <a:tc>
                  <a:txBody>
                    <a:bodyPr/>
                    <a:lstStyle/>
                    <a:p>
                      <a:pPr indent="0" lvl="0" marL="0" rtl="0" algn="l">
                        <a:spcBef>
                          <a:spcPts val="0"/>
                        </a:spcBef>
                        <a:spcAft>
                          <a:spcPts val="0"/>
                        </a:spcAft>
                        <a:buNone/>
                      </a:pPr>
                      <a:r>
                        <a:rPr lang="en" sz="1100">
                          <a:solidFill>
                            <a:schemeClr val="lt1"/>
                          </a:solidFill>
                        </a:rPr>
                        <a:t>SARIMA performs better on this test set</a:t>
                      </a:r>
                      <a:endParaRPr sz="1100">
                        <a:solidFill>
                          <a:schemeClr val="lt1"/>
                        </a:solidFill>
                      </a:endParaRPr>
                    </a:p>
                  </a:txBody>
                  <a:tcPr marT="63500" marB="63500" marR="63500" marL="63500"/>
                </a:tc>
              </a:tr>
            </a:tbl>
          </a:graphicData>
        </a:graphic>
      </p:graphicFrame>
      <p:sp>
        <p:nvSpPr>
          <p:cNvPr id="345" name="Google Shape;345;p21"/>
          <p:cNvSpPr txBox="1"/>
          <p:nvPr/>
        </p:nvSpPr>
        <p:spPr>
          <a:xfrm>
            <a:off x="6310325" y="2095500"/>
            <a:ext cx="2417100" cy="14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Nunito"/>
                <a:ea typeface="Nunito"/>
                <a:cs typeface="Nunito"/>
                <a:sym typeface="Nunito"/>
              </a:rPr>
              <a:t>This means that the SARIMA model achieved a lower forecasting error than our gradient boosting model on the 4 quarter hold out set. Its average forecast error was $187 million, which beat the GBR’s $278 million error.</a:t>
            </a:r>
            <a:endParaRPr sz="1300">
              <a:solidFill>
                <a:schemeClr val="lt1"/>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2"/>
          <p:cNvSpPr txBox="1"/>
          <p:nvPr>
            <p:ph type="title"/>
          </p:nvPr>
        </p:nvSpPr>
        <p:spPr>
          <a:xfrm>
            <a:off x="365350" y="153175"/>
            <a:ext cx="8595900" cy="68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chemeClr val="lt1"/>
                </a:solidFill>
              </a:rPr>
              <a:t>Proposed Deployment</a:t>
            </a:r>
            <a:endParaRPr sz="2320">
              <a:solidFill>
                <a:schemeClr val="lt1"/>
              </a:solidFill>
            </a:endParaRPr>
          </a:p>
        </p:txBody>
      </p:sp>
      <p:sp>
        <p:nvSpPr>
          <p:cNvPr id="351" name="Google Shape;351;p22"/>
          <p:cNvSpPr txBox="1"/>
          <p:nvPr>
            <p:ph idx="1" type="body"/>
          </p:nvPr>
        </p:nvSpPr>
        <p:spPr>
          <a:xfrm>
            <a:off x="91500" y="1547825"/>
            <a:ext cx="3647100" cy="23454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1200"/>
              </a:spcAft>
              <a:buSzPts val="1018"/>
              <a:buNone/>
            </a:pPr>
            <a:r>
              <a:rPr b="1" lang="en" sz="1702">
                <a:solidFill>
                  <a:schemeClr val="lt1"/>
                </a:solidFill>
              </a:rPr>
              <a:t>We propose a four-stage MLOps Pipeline which is designed to run reliably every quarter. Think of this architecture as a fully automated, quarterly forecast factory that runs itself without needing you to manually click "Run" every time.</a:t>
            </a:r>
            <a:endParaRPr b="1" sz="1702">
              <a:solidFill>
                <a:schemeClr val="lt1"/>
              </a:solidFill>
            </a:endParaRPr>
          </a:p>
        </p:txBody>
      </p:sp>
      <p:sp>
        <p:nvSpPr>
          <p:cNvPr id="352" name="Google Shape;352;p22"/>
          <p:cNvSpPr txBox="1"/>
          <p:nvPr>
            <p:ph idx="1" type="body"/>
          </p:nvPr>
        </p:nvSpPr>
        <p:spPr>
          <a:xfrm>
            <a:off x="3738600" y="835975"/>
            <a:ext cx="5119500" cy="39504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b="1" lang="en" u="sng">
                <a:solidFill>
                  <a:schemeClr val="lt1"/>
                </a:solidFill>
              </a:rPr>
              <a:t>Source and Database: </a:t>
            </a:r>
            <a:endParaRPr b="1" u="sng">
              <a:solidFill>
                <a:schemeClr val="lt1"/>
              </a:solidFill>
            </a:endParaRPr>
          </a:p>
          <a:p>
            <a:pPr indent="0" lvl="0" marL="0" rtl="0" algn="ctr">
              <a:spcBef>
                <a:spcPts val="1200"/>
              </a:spcBef>
              <a:spcAft>
                <a:spcPts val="0"/>
              </a:spcAft>
              <a:buNone/>
            </a:pPr>
            <a:r>
              <a:rPr b="1" lang="en">
                <a:solidFill>
                  <a:schemeClr val="lt1"/>
                </a:solidFill>
              </a:rPr>
              <a:t>Source</a:t>
            </a:r>
            <a:r>
              <a:rPr lang="en">
                <a:solidFill>
                  <a:schemeClr val="lt1"/>
                </a:solidFill>
              </a:rPr>
              <a:t>: This is where the CSV files are kept, securely stored in a place like Google Cloud Storage. We pull the latest quarterly data from here.</a:t>
            </a:r>
            <a:endParaRPr>
              <a:solidFill>
                <a:schemeClr val="lt1"/>
              </a:solidFill>
            </a:endParaRPr>
          </a:p>
          <a:p>
            <a:pPr indent="0" lvl="0" marL="0" rtl="0" algn="ctr">
              <a:spcBef>
                <a:spcPts val="1200"/>
              </a:spcBef>
              <a:spcAft>
                <a:spcPts val="0"/>
              </a:spcAft>
              <a:buNone/>
            </a:pPr>
            <a:r>
              <a:rPr b="1" lang="en">
                <a:solidFill>
                  <a:schemeClr val="lt1"/>
                </a:solidFill>
              </a:rPr>
              <a:t>Database (PostgreSQL)</a:t>
            </a:r>
            <a:r>
              <a:rPr lang="en">
                <a:solidFill>
                  <a:schemeClr val="lt1"/>
                </a:solidFill>
              </a:rPr>
              <a:t>: This is where we store the final, official forecast results. Instead of looking through old spreadsheets, anyone who needs the forecast just asks the database.</a:t>
            </a:r>
            <a:endParaRPr>
              <a:solidFill>
                <a:schemeClr val="lt1"/>
              </a:solidFill>
            </a:endParaRPr>
          </a:p>
          <a:p>
            <a:pPr indent="0" lvl="0" marL="0" rtl="0" algn="ctr">
              <a:spcBef>
                <a:spcPts val="1200"/>
              </a:spcBef>
              <a:spcAft>
                <a:spcPts val="0"/>
              </a:spcAft>
              <a:buNone/>
            </a:pPr>
            <a:r>
              <a:rPr b="1" lang="en" u="sng">
                <a:solidFill>
                  <a:schemeClr val="lt1"/>
                </a:solidFill>
              </a:rPr>
              <a:t>Apache Airflow:</a:t>
            </a:r>
            <a:endParaRPr b="1" u="sng">
              <a:solidFill>
                <a:schemeClr val="lt1"/>
              </a:solidFill>
            </a:endParaRPr>
          </a:p>
          <a:p>
            <a:pPr indent="0" lvl="0" marL="0" rtl="0" algn="ctr">
              <a:spcBef>
                <a:spcPts val="1200"/>
              </a:spcBef>
              <a:spcAft>
                <a:spcPts val="0"/>
              </a:spcAft>
              <a:buNone/>
            </a:pPr>
            <a:r>
              <a:rPr lang="en">
                <a:solidFill>
                  <a:schemeClr val="lt1"/>
                </a:solidFill>
              </a:rPr>
              <a:t>This is the scheduling tool that ensures every step runs correctly, in the right order, and on time.</a:t>
            </a:r>
            <a:endParaRPr>
              <a:solidFill>
                <a:schemeClr val="lt1"/>
              </a:solidFill>
            </a:endParaRPr>
          </a:p>
          <a:p>
            <a:pPr indent="0" lvl="0" marL="0" rtl="0" algn="ctr">
              <a:spcBef>
                <a:spcPts val="1200"/>
              </a:spcBef>
              <a:spcAft>
                <a:spcPts val="0"/>
              </a:spcAft>
              <a:buNone/>
            </a:pPr>
            <a:r>
              <a:rPr b="1" lang="en">
                <a:solidFill>
                  <a:schemeClr val="lt1"/>
                </a:solidFill>
              </a:rPr>
              <a:t>Schedule</a:t>
            </a:r>
            <a:r>
              <a:rPr lang="en">
                <a:solidFill>
                  <a:schemeClr val="lt1"/>
                </a:solidFill>
              </a:rPr>
              <a:t>: For example, you tell the airflow: “Run the entire forecast process every three months (quarterly). Airflow then wakes up automatically on that schedule.</a:t>
            </a:r>
            <a:endParaRPr>
              <a:solidFill>
                <a:schemeClr val="lt1"/>
              </a:solidFill>
            </a:endParaRPr>
          </a:p>
          <a:p>
            <a:pPr indent="0" lvl="0" marL="0" rtl="0" algn="ctr">
              <a:spcBef>
                <a:spcPts val="1200"/>
              </a:spcBef>
              <a:spcAft>
                <a:spcPts val="0"/>
              </a:spcAft>
              <a:buNone/>
            </a:pPr>
            <a:r>
              <a:rPr b="1" lang="en">
                <a:solidFill>
                  <a:schemeClr val="lt1"/>
                </a:solidFill>
              </a:rPr>
              <a:t>Pipeline</a:t>
            </a:r>
            <a:r>
              <a:rPr lang="en">
                <a:solidFill>
                  <a:schemeClr val="lt1"/>
                </a:solidFill>
              </a:rPr>
              <a:t>: airflow follows a strict “to-do” list (DAG):</a:t>
            </a:r>
            <a:endParaRPr>
              <a:solidFill>
                <a:schemeClr val="lt1"/>
              </a:solidFill>
            </a:endParaRPr>
          </a:p>
          <a:p>
            <a:pPr indent="0" lvl="0" marL="0" rtl="0" algn="ctr">
              <a:spcBef>
                <a:spcPts val="1200"/>
              </a:spcBef>
              <a:spcAft>
                <a:spcPts val="0"/>
              </a:spcAft>
              <a:buNone/>
            </a:pPr>
            <a:r>
              <a:rPr lang="en">
                <a:solidFill>
                  <a:schemeClr val="lt1"/>
                </a:solidFill>
              </a:rPr>
              <a:t>Get the latest data and run the ETL and clean the code.</a:t>
            </a:r>
            <a:endParaRPr>
              <a:solidFill>
                <a:schemeClr val="lt1"/>
              </a:solidFill>
            </a:endParaRPr>
          </a:p>
          <a:p>
            <a:pPr indent="0" lvl="0" marL="0" rtl="0" algn="ctr">
              <a:spcBef>
                <a:spcPts val="1200"/>
              </a:spcBef>
              <a:spcAft>
                <a:spcPts val="0"/>
              </a:spcAft>
              <a:buNone/>
            </a:pPr>
            <a:r>
              <a:rPr lang="en">
                <a:solidFill>
                  <a:schemeClr val="lt1"/>
                </a:solidFill>
              </a:rPr>
              <a:t>Feed the cleaned data into two main prediction machines: the GBR model and the SARIMA model.</a:t>
            </a:r>
            <a:endParaRPr>
              <a:solidFill>
                <a:schemeClr val="lt1"/>
              </a:solidFill>
            </a:endParaRPr>
          </a:p>
          <a:p>
            <a:pPr indent="0" lvl="0" marL="0" rtl="0" algn="ctr">
              <a:spcBef>
                <a:spcPts val="1200"/>
              </a:spcBef>
              <a:spcAft>
                <a:spcPts val="1200"/>
              </a:spcAft>
              <a:buNone/>
            </a:pPr>
            <a:r>
              <a:rPr lang="en">
                <a:solidFill>
                  <a:schemeClr val="lt1"/>
                </a:solidFill>
              </a:rPr>
              <a:t>Take the final predicted revenue numbers and save them securely into the database.</a:t>
            </a:r>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3"/>
          <p:cNvSpPr txBox="1"/>
          <p:nvPr>
            <p:ph type="title"/>
          </p:nvPr>
        </p:nvSpPr>
        <p:spPr>
          <a:xfrm>
            <a:off x="365350" y="153175"/>
            <a:ext cx="8595900" cy="68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chemeClr val="lt1"/>
                </a:solidFill>
              </a:rPr>
              <a:t>Proposed Deployment (cont’d)</a:t>
            </a:r>
            <a:endParaRPr sz="2320">
              <a:solidFill>
                <a:schemeClr val="lt1"/>
              </a:solidFill>
            </a:endParaRPr>
          </a:p>
        </p:txBody>
      </p:sp>
      <p:sp>
        <p:nvSpPr>
          <p:cNvPr id="358" name="Google Shape;358;p23"/>
          <p:cNvSpPr txBox="1"/>
          <p:nvPr>
            <p:ph idx="1" type="body"/>
          </p:nvPr>
        </p:nvSpPr>
        <p:spPr>
          <a:xfrm>
            <a:off x="91500" y="1547825"/>
            <a:ext cx="3647100" cy="23454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1200"/>
              </a:spcAft>
              <a:buSzPts val="1018"/>
              <a:buNone/>
            </a:pPr>
            <a:r>
              <a:rPr b="1" lang="en" sz="1702">
                <a:solidFill>
                  <a:schemeClr val="lt1"/>
                </a:solidFill>
              </a:rPr>
              <a:t>We propose a four-stage MLOps Pipeline which is designed to run reliably every quarter. Think of this architecture as a fully automated, quarterly forecast factory that runs itself without needing you to manually click "Run" every time.</a:t>
            </a:r>
            <a:endParaRPr b="1" sz="1702">
              <a:solidFill>
                <a:schemeClr val="lt1"/>
              </a:solidFill>
            </a:endParaRPr>
          </a:p>
        </p:txBody>
      </p:sp>
      <p:sp>
        <p:nvSpPr>
          <p:cNvPr id="359" name="Google Shape;359;p23"/>
          <p:cNvSpPr txBox="1"/>
          <p:nvPr>
            <p:ph idx="1" type="body"/>
          </p:nvPr>
        </p:nvSpPr>
        <p:spPr>
          <a:xfrm>
            <a:off x="3738600" y="835975"/>
            <a:ext cx="5119500" cy="39504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b="1" lang="en" u="sng">
                <a:solidFill>
                  <a:schemeClr val="lt1"/>
                </a:solidFill>
              </a:rPr>
              <a:t>Model Execution:</a:t>
            </a:r>
            <a:endParaRPr b="1" u="sng">
              <a:solidFill>
                <a:schemeClr val="lt1"/>
              </a:solidFill>
            </a:endParaRPr>
          </a:p>
          <a:p>
            <a:pPr indent="0" lvl="0" marL="0" rtl="0" algn="ctr">
              <a:spcBef>
                <a:spcPts val="1200"/>
              </a:spcBef>
              <a:spcAft>
                <a:spcPts val="0"/>
              </a:spcAft>
              <a:buNone/>
            </a:pPr>
            <a:r>
              <a:rPr lang="en">
                <a:solidFill>
                  <a:schemeClr val="lt1"/>
                </a:solidFill>
              </a:rPr>
              <a:t>The code cleans up the data and prepares the specific features needed for the GBR model.</a:t>
            </a:r>
            <a:endParaRPr>
              <a:solidFill>
                <a:schemeClr val="lt1"/>
              </a:solidFill>
            </a:endParaRPr>
          </a:p>
          <a:p>
            <a:pPr indent="0" lvl="0" marL="0" rtl="0" algn="ctr">
              <a:spcBef>
                <a:spcPts val="1200"/>
              </a:spcBef>
              <a:spcAft>
                <a:spcPts val="0"/>
              </a:spcAft>
              <a:buNone/>
            </a:pPr>
            <a:r>
              <a:rPr lang="en">
                <a:solidFill>
                  <a:schemeClr val="lt1"/>
                </a:solidFill>
              </a:rPr>
              <a:t>The GBR and SARIMA scripts run the forecast for the next 4 quarters. This makes sure that the prediction logic is exactly the same every time.</a:t>
            </a:r>
            <a:endParaRPr>
              <a:solidFill>
                <a:schemeClr val="lt1"/>
              </a:solidFill>
            </a:endParaRPr>
          </a:p>
          <a:p>
            <a:pPr indent="0" lvl="0" marL="0" rtl="0" algn="ctr">
              <a:spcBef>
                <a:spcPts val="1200"/>
              </a:spcBef>
              <a:spcAft>
                <a:spcPts val="0"/>
              </a:spcAft>
              <a:buNone/>
            </a:pPr>
            <a:r>
              <a:rPr b="1" lang="en" u="sng">
                <a:solidFill>
                  <a:schemeClr val="lt1"/>
                </a:solidFill>
              </a:rPr>
              <a:t>The Server (Flask API):</a:t>
            </a:r>
            <a:endParaRPr b="1" u="sng">
              <a:solidFill>
                <a:schemeClr val="lt1"/>
              </a:solidFill>
            </a:endParaRPr>
          </a:p>
          <a:p>
            <a:pPr indent="0" lvl="0" marL="0" rtl="0" algn="ctr">
              <a:spcBef>
                <a:spcPts val="1200"/>
              </a:spcBef>
              <a:spcAft>
                <a:spcPts val="0"/>
              </a:spcAft>
              <a:buNone/>
            </a:pPr>
            <a:r>
              <a:rPr lang="en">
                <a:solidFill>
                  <a:schemeClr val="lt1"/>
                </a:solidFill>
              </a:rPr>
              <a:t>This provides a simple way for other applications to get the results instantly. Instead of accessing the database directly, another program sends a simple request (i.e. what is the Q1 revenue forecast?) to the Flask API. The API quickly checks the database, grabs the latest GBR and SARIMA forecasts, and sends them back immediately in a clean, standardized format.</a:t>
            </a:r>
            <a:endParaRPr>
              <a:solidFill>
                <a:schemeClr val="lt1"/>
              </a:solidFill>
            </a:endParaRPr>
          </a:p>
          <a:p>
            <a:pPr indent="0" lvl="0" marL="0" rtl="0" algn="ctr">
              <a:spcBef>
                <a:spcPts val="1200"/>
              </a:spcBef>
              <a:spcAft>
                <a:spcPts val="1200"/>
              </a:spcAft>
              <a:buNone/>
            </a:pPr>
            <a:r>
              <a:rPr b="1" lang="en">
                <a:solidFill>
                  <a:schemeClr val="lt1"/>
                </a:solidFill>
              </a:rPr>
              <a:t>Overall, this system would allow us to get a forecast that is fresh, reliable and easy to access by the business every quarter.</a:t>
            </a:r>
            <a:endParaRPr b="1">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